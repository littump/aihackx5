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2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X5 «Домовой»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13533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Презентация проекта · промежуточная версия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13232" y="1965960"/>
            <a:ext cx="1097280" cy="73152"/>
          </a:xfrm>
          <a:prstGeom prst="rect">
            <a:avLst/>
          </a:prstGeom>
          <a:solidFill>
            <a:srgbClr val="20923A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30428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Персональный игровой слой X5 Клуба, который превращает историю покупок в прогресс, цели и измеримый бизнес-эффект.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13232" y="59893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Анна Казанцева · Роман Якимов · Татьяна Тельнова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62636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 Hack · ITMO ·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040880" y="868680"/>
            <a:ext cx="2926080" cy="539496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pic>
        <p:nvPicPr>
          <p:cNvPr id="9" name="Image 0" descr="/mnt/data/31f299be-1b1e-451b-9e4f-e728a505bf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598" y="1051560"/>
            <a:ext cx="2254925" cy="4892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104120" y="1371600"/>
            <a:ext cx="1143000" cy="1143000"/>
          </a:xfrm>
          <a:prstGeom prst="roundRect">
            <a:avLst>
              <a:gd name="adj" fmla="val 5600"/>
            </a:avLst>
          </a:prstGeom>
          <a:solidFill>
            <a:srgbClr val="EAF7ED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0" y="170078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137392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686032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46920" y="1828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0" b="1" dirty="0">
                <a:solidFill>
                  <a:srgbClr val="E4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уже зафиксировано на промежуточном этапе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4241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0934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06040" y="1563624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X5 уже имеет акции и игры, но они фрагментированы. Пользователь слабо видит накопленную выгоду и не получает постоянный сценарий между покупками.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104241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5694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06040" y="2523744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Домовой — единый игровой слой: savings + аватар + персональный challenge + лига + referral.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337560"/>
            <a:ext cx="104241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5295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AI-роль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3483864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ранжирует релевантные механики и формирует объяснение; экономика, reward и fraud остаются в детерминированном коде.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297680"/>
            <a:ext cx="104241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4897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4443984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backend/UI уже собраны по backlog; AI/data/eval/simulation и PM view остаются основными блоками до финала.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5486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3–7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77240" y="58978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покупок / мес. — рабочий сегмент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246120" y="5486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≥70%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3246120" y="58978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relevance hit rate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669280" y="5486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1–10k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5669280" y="58978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users для simulation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8183880" y="5486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≥0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8183880" y="58978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after rewards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137392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686032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46920" y="1828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0" b="1" dirty="0">
                <a:solidFill>
                  <a:srgbClr val="E4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9555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пользователь видит много выгод, но не видит систему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не ещё одно промо, а связанный между покупками цикл</a:t>
            </a:r>
            <a:endParaRPr lang="en-US" sz="1050" dirty="0"/>
          </a:p>
        </p:txBody>
      </p:sp>
      <p:pic>
        <p:nvPicPr>
          <p:cNvPr id="5" name="Image 0" descr="/mnt/data/a5e81877-baa3-4695-a287-5278aca077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8" y="1508760"/>
            <a:ext cx="1685925" cy="3657600"/>
          </a:xfrm>
          <a:prstGeom prst="rect">
            <a:avLst/>
          </a:prstGeom>
        </p:spPr>
      </p:pic>
      <p:pic>
        <p:nvPicPr>
          <p:cNvPr id="6" name="Image 1" descr="/mnt/data/31f299be-1b1e-451b-9e4f-e728a505bf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0338" y="1508760"/>
            <a:ext cx="1685925" cy="3657600"/>
          </a:xfrm>
          <a:prstGeom prst="rect">
            <a:avLst/>
          </a:prstGeom>
        </p:spPr>
      </p:pic>
      <p:pic>
        <p:nvPicPr>
          <p:cNvPr id="7" name="Image 2" descr="/mnt/data/ea3173a1-3e7d-4f03-bc78-38b4dbb0229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2018" y="1508760"/>
            <a:ext cx="1685925" cy="36576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583680" y="1234440"/>
            <a:ext cx="4297680" cy="438912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90372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видим в текущем опыте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6903720" y="2148840"/>
            <a:ext cx="128016" cy="128016"/>
          </a:xfrm>
          <a:prstGeom prst="ellipse">
            <a:avLst/>
          </a:prstGeom>
          <a:solidFill>
            <a:srgbClr val="20923A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150608" y="208483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акции, кешбэк, задания и игры конкурируют за внимание</a:t>
            </a:r>
            <a:endParaRPr lang="en-US" sz="1240" dirty="0"/>
          </a:p>
        </p:txBody>
      </p:sp>
      <p:sp>
        <p:nvSpPr>
          <p:cNvPr id="12" name="Shape 7"/>
          <p:cNvSpPr/>
          <p:nvPr/>
        </p:nvSpPr>
        <p:spPr>
          <a:xfrm>
            <a:off x="6903720" y="2807208"/>
            <a:ext cx="128016" cy="128016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150608" y="274320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накопленная выгода не становится понятным прогрессом</a:t>
            </a:r>
            <a:endParaRPr lang="en-US" sz="1240" dirty="0"/>
          </a:p>
        </p:txBody>
      </p:sp>
      <p:sp>
        <p:nvSpPr>
          <p:cNvPr id="14" name="Shape 9"/>
          <p:cNvSpPr/>
          <p:nvPr/>
        </p:nvSpPr>
        <p:spPr>
          <a:xfrm>
            <a:off x="6903720" y="3465576"/>
            <a:ext cx="128016" cy="128016"/>
          </a:xfrm>
          <a:prstGeom prst="ellipse">
            <a:avLst/>
          </a:prstGeom>
          <a:solidFill>
            <a:srgbClr val="20923A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150608" y="340156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игровые кампании выглядят как отдельные промо-события</a:t>
            </a:r>
            <a:endParaRPr lang="en-US" sz="1240" dirty="0"/>
          </a:p>
        </p:txBody>
      </p:sp>
      <p:sp>
        <p:nvSpPr>
          <p:cNvPr id="16" name="Shape 11"/>
          <p:cNvSpPr/>
          <p:nvPr/>
        </p:nvSpPr>
        <p:spPr>
          <a:xfrm>
            <a:off x="6903720" y="4123944"/>
            <a:ext cx="128016" cy="128016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150608" y="405993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и social comparison не собраны в постоянный слой</a:t>
            </a:r>
            <a:endParaRPr lang="en-US" sz="1240" dirty="0"/>
          </a:p>
        </p:txBody>
      </p:sp>
      <p:sp>
        <p:nvSpPr>
          <p:cNvPr id="18" name="Text 13"/>
          <p:cNvSpPr/>
          <p:nvPr/>
        </p:nvSpPr>
        <p:spPr>
          <a:xfrm>
            <a:off x="6903720" y="50292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Задача: сделать выгоду заметной и дать следующий шаг без перегруза интерфейса.</a:t>
            </a:r>
            <a:endParaRPr lang="en-US" sz="1280" dirty="0"/>
          </a:p>
        </p:txBody>
      </p:sp>
      <p:sp>
        <p:nvSpPr>
          <p:cNvPr id="19" name="Text 14"/>
          <p:cNvSpPr/>
          <p:nvPr/>
        </p:nvSpPr>
        <p:spPr>
          <a:xfrm>
            <a:off x="502920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продуктовые материалы команды; UX-аудит текущего приложения X5 по скриншотам.</a:t>
            </a:r>
            <a:endParaRPr lang="en-US" sz="650" dirty="0"/>
          </a:p>
        </p:txBody>
      </p:sp>
      <p:sp>
        <p:nvSpPr>
          <p:cNvPr id="20" name="Text 15"/>
          <p:cNvSpPr/>
          <p:nvPr/>
        </p:nvSpPr>
        <p:spPr>
          <a:xfrm>
            <a:off x="502920" y="6473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11137392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11686032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46920" y="1828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0" b="1" dirty="0">
                <a:solidFill>
                  <a:srgbClr val="E4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и JTBD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работа пользователя, потом механика Домового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2926080" cy="4251960"/>
          </a:xfrm>
          <a:prstGeom prst="roundRect">
            <a:avLst>
              <a:gd name="adj" fmla="val 2188"/>
            </a:avLst>
          </a:prstGeom>
          <a:solidFill>
            <a:srgbClr val="EAF7ED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Фокусный сегмент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0574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Участники X5 Клуба со средней частотой: 3–7 покупок в месяц.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они: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32461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есть история чеков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35387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уже покупают в X5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383133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есть headroom для +1 покупки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69080" y="1325880"/>
            <a:ext cx="60350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54533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49240" y="144475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быстро понять, что сейчас выгодно именно для меня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069080" y="2560320"/>
            <a:ext cx="60350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77977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49240" y="267919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видеть реальную пользу от X5 Клуба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069080" y="3794760"/>
            <a:ext cx="60350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40142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49240" y="39136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получить дополнительную причину выбрать X5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069080" y="5166360"/>
            <a:ext cx="6035040" cy="548640"/>
          </a:xfrm>
          <a:prstGeom prst="roundRect">
            <a:avLst>
              <a:gd name="adj" fmla="val 11667"/>
            </a:avLst>
          </a:prstGeom>
          <a:solidFill>
            <a:srgbClr val="F1F3F5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532180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пользователь не «хочет челлендж». Челлендж — способ дать релевантный следующий шаг.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137392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686032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46920" y="1828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0" b="1" dirty="0">
                <a:solidFill>
                  <a:srgbClr val="E4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Research: внешние сигналы в пользу механики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прогнозируем эффект, а берём ориентиры для гипотез и sensitivity analysis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0561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990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X5 игры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2743200" y="13990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 млн игроков / 74 млн сессий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5897880" y="1389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 уже готова к игровым форматам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85800" y="1965960"/>
            <a:ext cx="1056132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305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Магнит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2743200" y="21305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игроки покупали на 7,4% чаще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5897880" y="21214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может коррелировать с frequency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85800" y="2697480"/>
            <a:ext cx="10561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620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Tesco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2743200" y="28620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 activation / 62% first reward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5897880" y="28529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персональные челленджи от истории покупок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85800" y="3429000"/>
            <a:ext cx="1056132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5935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Самокат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2743200" y="3593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выполнили хотя бы одно задание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5897880" y="35844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персонаж работает, если связан с транзакциями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85800" y="4160520"/>
            <a:ext cx="10561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3251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Goal-gradient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2743200" y="43251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покупки ускоряются у цели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5897880" y="43159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нужен видимый progress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85800" y="5257800"/>
            <a:ext cx="10561320" cy="594360"/>
          </a:xfrm>
          <a:prstGeom prst="rect">
            <a:avLst/>
          </a:prstGeom>
          <a:solidFill>
            <a:srgbClr val="EAF7ED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431536"/>
            <a:ext cx="9646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decision: не отдельная мини-игра, а always-on слой: history → challenge → Домовой → league/referral → next purchase.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502920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X5 MediaHub; New Retail; Eagle Eye / Tesco; Sostav / Самокат; Kivetz et al. 2006.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137392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686032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46920" y="1828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0" b="1" dirty="0">
                <a:solidFill>
                  <a:srgbClr val="E4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Выбранный подход: один слой вместо набора промо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Домовой связывает покупки в постоянный progress loop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2140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16152" y="212140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с картой X5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94560" y="2450592"/>
            <a:ext cx="365760" cy="0"/>
          </a:xfrm>
          <a:prstGeom prst="line">
            <a:avLst/>
          </a:prstGeom>
          <a:noFill/>
          <a:ln w="12700">
            <a:solidFill>
              <a:srgbClr val="20923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196596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212140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99232" y="212140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 в профиль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77640" y="2450592"/>
            <a:ext cx="365760" cy="0"/>
          </a:xfrm>
          <a:prstGeom prst="line">
            <a:avLst/>
          </a:prstGeom>
          <a:noFill/>
          <a:ln w="12700">
            <a:solidFill>
              <a:srgbClr val="20923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43400" y="196596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12140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82312" y="212140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привычек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0720" y="2450592"/>
            <a:ext cx="365760" cy="0"/>
          </a:xfrm>
          <a:prstGeom prst="line">
            <a:avLst/>
          </a:prstGeom>
          <a:noFill/>
          <a:ln w="12700">
            <a:solidFill>
              <a:srgbClr val="20923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26480" y="196596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EAF7ED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12140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65392" y="212140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персональная цель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43800" y="2450592"/>
            <a:ext cx="365760" cy="0"/>
          </a:xfrm>
          <a:prstGeom prst="line">
            <a:avLst/>
          </a:prstGeom>
          <a:noFill/>
          <a:ln w="12700">
            <a:solidFill>
              <a:srgbClr val="20923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909560" y="196596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212140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48472" y="212140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прогресс Домового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326880" y="2450592"/>
            <a:ext cx="365760" cy="0"/>
          </a:xfrm>
          <a:prstGeom prst="line">
            <a:avLst/>
          </a:prstGeom>
          <a:noFill/>
          <a:ln w="12700">
            <a:solidFill>
              <a:srgbClr val="20923A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92640" y="196596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29800" y="212140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31552" y="212140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следующая покупка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406908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42793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так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57400" y="4322427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не требует ручной загрузки чеков и не добавляет ещё один равнозначный CTA.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0" y="4069080"/>
            <a:ext cx="3063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427939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0" y="4187952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Домовой + personal challenge + league + referral + PM view.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09560" y="4069080"/>
            <a:ext cx="3063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4279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41079" y="4187952"/>
            <a:ext cx="21703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Персонализация и объяснение; не финансовые решения.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137392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686032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46920" y="1828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0" b="1" dirty="0">
                <a:solidFill>
                  <a:srgbClr val="E4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MVP: четыре пользовательских экрана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view показываем отдельно как слой объяснимости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514600" cy="38862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20240"/>
            <a:ext cx="1874520" cy="2514600"/>
          </a:xfrm>
          <a:prstGeom prst="roundRect">
            <a:avLst>
              <a:gd name="adj" fmla="val 3902"/>
            </a:avLst>
          </a:prstGeom>
          <a:solidFill>
            <a:srgbClr val="EAF7E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21214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46177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Домовой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48646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· XP · state · hero challenge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508760" y="24963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Домовой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783080" y="2880360"/>
            <a:ext cx="502920" cy="502920"/>
          </a:xfrm>
          <a:prstGeom prst="ellipse">
            <a:avLst/>
          </a:prstGeom>
          <a:solidFill>
            <a:srgbClr val="20923A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72768" y="3584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20440" y="1463040"/>
            <a:ext cx="2514600" cy="38862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920240"/>
            <a:ext cx="1874520" cy="2514600"/>
          </a:xfrm>
          <a:prstGeom prst="roundRect">
            <a:avLst>
              <a:gd name="adj" fmla="val 3902"/>
            </a:avLst>
          </a:prstGeom>
          <a:solidFill>
            <a:srgbClr val="F1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95928" y="21214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40480" y="46177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48646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· target · progress · reward · why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178808" y="24505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недели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06240" y="3017520"/>
            <a:ext cx="1188720" cy="118872"/>
          </a:xfrm>
          <a:prstGeom prst="rect">
            <a:avLst/>
          </a:prstGeom>
          <a:solidFill>
            <a:srgbClr val="20923A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463040"/>
            <a:ext cx="2514600" cy="38862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1920240"/>
            <a:ext cx="1874520" cy="2514600"/>
          </a:xfrm>
          <a:prstGeom prst="roundRect">
            <a:avLst>
              <a:gd name="adj" fmla="val 3902"/>
            </a:avLst>
          </a:prstGeom>
          <a:solidFill>
            <a:srgbClr val="F1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21214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29400" y="46177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Лига домов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0840" y="48646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· score · zones · movement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903720" y="2423160"/>
            <a:ext cx="13716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2807208"/>
            <a:ext cx="1371600" cy="201168"/>
          </a:xfrm>
          <a:prstGeom prst="rect">
            <a:avLst/>
          </a:prstGeom>
          <a:solidFill>
            <a:srgbClr val="EAF7ED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3191256"/>
            <a:ext cx="13716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3575304"/>
            <a:ext cx="13716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88352" y="3931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98280" y="1463040"/>
            <a:ext cx="2514600" cy="38862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18320" y="1920240"/>
            <a:ext cx="1874520" cy="2514600"/>
          </a:xfrm>
          <a:prstGeom prst="roundRect">
            <a:avLst>
              <a:gd name="adj" fmla="val 3902"/>
            </a:avLst>
          </a:prstGeom>
          <a:solidFill>
            <a:srgbClr val="F1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73768" y="21214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418320" y="46177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09760" y="48646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QR/link · conditions · statuses · antifraud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0104120" y="2468880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58984" y="269748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848088" y="352044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AF7ED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21240" y="3570732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reward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137392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686032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46920" y="1828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0" b="1" dirty="0">
                <a:solidFill>
                  <a:srgbClr val="E4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решения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считает числа; AI выбирает релевантность и объясняет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11430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0848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Receipts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1737360" y="2194560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11680" y="1828800"/>
            <a:ext cx="11430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21408" y="20848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154680" y="2194560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29000" y="1828800"/>
            <a:ext cx="11430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20848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572000" y="2194560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46320" y="1828800"/>
            <a:ext cx="1143000" cy="731520"/>
          </a:xfrm>
          <a:prstGeom prst="roundRect">
            <a:avLst>
              <a:gd name="adj" fmla="val 8750"/>
            </a:avLst>
          </a:prstGeom>
          <a:solidFill>
            <a:srgbClr val="EAF7ED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20848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Recommender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989320" y="2194560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63640" y="1828800"/>
            <a:ext cx="1143000" cy="731520"/>
          </a:xfrm>
          <a:prstGeom prst="roundRect">
            <a:avLst>
              <a:gd name="adj" fmla="val 8750"/>
            </a:avLst>
          </a:prstGeom>
          <a:solidFill>
            <a:srgbClr val="FFF3E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20848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406640" y="2194560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80960" y="1828800"/>
            <a:ext cx="11430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0688" y="20848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copy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823960" y="2194560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98280" y="1828800"/>
            <a:ext cx="11430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08008" y="20848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Antifraud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10241280" y="2194560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515600" y="1828800"/>
            <a:ext cx="11430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25328" y="20848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914400" y="3657600"/>
            <a:ext cx="27432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39136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3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нельзя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" y="42245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придумывать скидки, баллы, цены или условия наград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63440" y="3657600"/>
            <a:ext cx="27432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9136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Engine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42245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→ target → expected margin → max reward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412480" y="3657600"/>
            <a:ext cx="27432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41080" y="39136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view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41080" y="42245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видит features, rationale, reward, fraud score и результаты eval/simulation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137392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686032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46920" y="1828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0" b="1" dirty="0">
                <a:solidFill>
                  <a:srgbClr val="E4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Предварительная экономика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guardrail: growth должен не съедаться наградами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2926080" cy="356616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08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Входные факты / assumptions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96596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555,3 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31720" y="199339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чек «Пятёрочки», 2025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960120" y="25328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31720" y="25603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margin в модели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960120" y="30998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баллов = 1 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31720" y="31272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X5 Клуба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960120" y="36667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31720" y="369417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reward / incremental margin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206240" y="1234440"/>
            <a:ext cx="658368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1508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/ участник в месяц, ₽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2148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консервативный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2103120"/>
            <a:ext cx="3931920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2103120"/>
            <a:ext cx="1494130" cy="256032"/>
          </a:xfrm>
          <a:prstGeom prst="rect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04120" y="2130552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9.5 ₽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26280" y="28072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базовый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2761488"/>
            <a:ext cx="3931920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2761488"/>
            <a:ext cx="2516429" cy="256032"/>
          </a:xfrm>
          <a:prstGeom prst="rect">
            <a:avLst/>
          </a:prstGeom>
          <a:solidFill>
            <a:srgbClr val="20923A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04120" y="2788920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16 ₽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26280" y="346557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верхний ориентир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3419856"/>
            <a:ext cx="3931920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3419856"/>
            <a:ext cx="3696005" cy="256032"/>
          </a:xfrm>
          <a:prstGeom prst="rect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04120" y="3447288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23.5 ₽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26280" y="4187952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Базовый сценарий: +0,30 покупки / мес. × 555,3 ₽ → 166,6 ₽ revenue → 25 ₽ margin. Reward: 150 баллов × 50% completion = 7,5 ₽. Инфраструктура: 1,5 ₽. Net ≈ 16 ₽.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800" y="5166360"/>
            <a:ext cx="10104120" cy="566928"/>
          </a:xfrm>
          <a:prstGeom prst="rect">
            <a:avLst/>
          </a:prstGeom>
          <a:solidFill>
            <a:srgbClr val="EAF7ED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340096"/>
            <a:ext cx="9281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Денежный reward — не обязательный приз, а максимум, который система может потратить без нарушения экономики.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и assumptions: продуктовые материалы команды; X5 trading update / financial results 2025; X5 Club FAQ.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137392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686032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46920" y="1828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0" b="1" dirty="0">
                <a:solidFill>
                  <a:srgbClr val="E4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Выполненные этапы и текущий статус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по backlog на 03.09: core flow в основном собран; AI/eval/simulation впереди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4892040" cy="429768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60704" y="2148840"/>
            <a:ext cx="137160" cy="137160"/>
          </a:xfrm>
          <a:prstGeom prst="ellipse">
            <a:avLst/>
          </a:prstGeom>
          <a:solidFill>
            <a:srgbClr val="20923A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07568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Foundation, API contract, migrations, constants, factories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1060704" y="2770632"/>
            <a:ext cx="137160" cy="137160"/>
          </a:xfrm>
          <a:prstGeom prst="ellipse">
            <a:avLst/>
          </a:prstGeom>
          <a:solidFill>
            <a:srgbClr val="20923A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6974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Receipts / user features / savings / Domovoy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1060704" y="3392424"/>
            <a:ext cx="137160" cy="137160"/>
          </a:xfrm>
          <a:prstGeom prst="ellipse">
            <a:avLst/>
          </a:prstGeom>
          <a:solidFill>
            <a:srgbClr val="20923A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33192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Challenges: candidates, economics, progress, simulate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1060704" y="4014216"/>
            <a:ext cx="137160" cy="137160"/>
          </a:xfrm>
          <a:prstGeom prst="ellipse">
            <a:avLst/>
          </a:prstGeom>
          <a:solidFill>
            <a:srgbClr val="20923A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39410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Home, Challenge, League, Referral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263640" y="1325880"/>
            <a:ext cx="4892040" cy="429768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 / next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92824" y="2148840"/>
            <a:ext cx="137160" cy="137160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07568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+ fraud patterns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592824" y="2770632"/>
            <a:ext cx="137160" cy="137160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6974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texts, explanation, fallback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592824" y="3392424"/>
            <a:ext cx="137160" cy="137160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33192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Antifraud in receipt pipeline + achievements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592824" y="4014216"/>
            <a:ext cx="137160" cy="137160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39410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view, eval, simulation, demo/deploy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502920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dev/docs/backlog/README.md, статусы задач E0–E12.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137392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686032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46920" y="1828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0" b="1" dirty="0">
                <a:solidFill>
                  <a:srgbClr val="E4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результаты / демонстрация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должно быть показано на промежуточном demo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4663440" cy="4343400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25880" y="21305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выбираем synthetic user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1005840" y="263347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261518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видим Домового, savings и hero challenge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1005840" y="31181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25880" y="309981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открываем «Почему это мне?»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1005840" y="360273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25880" y="35844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жмём Simulate new purchase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1005840" y="408736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25880" y="40690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видим дельты: XP, savings, progress, league rank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1005840" y="45720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25880" y="45537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переходим в Referral / PM view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080760" y="1417320"/>
            <a:ext cx="4572000" cy="4343400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79" y="1691640"/>
            <a:ext cx="28247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Промежуточные метрики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355080" y="2121408"/>
            <a:ext cx="3931920" cy="384048"/>
          </a:xfrm>
          <a:prstGeom prst="rect">
            <a:avLst/>
          </a:prstGeom>
          <a:solidFill>
            <a:srgbClr val="F1F3F5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231136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635240" y="221284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ожидает eval 30–50 профилей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355080" y="2743200"/>
            <a:ext cx="3931920" cy="384048"/>
          </a:xfrm>
          <a:prstGeom prst="rect">
            <a:avLst/>
          </a:prstGeom>
          <a:solidFill>
            <a:srgbClr val="F1F3F5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852928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635240" y="283464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ожидает control vs treatment 1–10k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355080" y="3364992"/>
            <a:ext cx="3931920" cy="384048"/>
          </a:xfrm>
          <a:prstGeom prst="rect">
            <a:avLst/>
          </a:prstGeom>
          <a:solidFill>
            <a:srgbClr val="F1F3F5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474720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Antifraud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635240" y="3456432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ожидает synthetic fraud cases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355080" y="3986784"/>
            <a:ext cx="3931920" cy="384048"/>
          </a:xfrm>
          <a:prstGeom prst="rect">
            <a:avLst/>
          </a:prstGeom>
          <a:solidFill>
            <a:srgbClr val="EAF7ED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4096512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635240" y="4078224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базовая model + sensitivity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6355080" y="50749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финала результаты нужно заменить на фактический прогон PoC.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137392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686032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46920" y="1828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0" b="1" dirty="0">
                <a:solidFill>
                  <a:srgbClr val="E4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риски и проверки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до финала — не добавить фич, а доказать самые рискованные допущения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033272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81328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без frequency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3703320" y="1472184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vs treatment, не только клики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31520" y="1947672"/>
            <a:ext cx="10332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103120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Нерелевантные цели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3703320" y="209397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на 30–50 профилях, hit rate ≥70%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31520" y="2569464"/>
            <a:ext cx="1033272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724912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Deadweight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3703320" y="2715768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выше baseline + reward cap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31520" y="3191256"/>
            <a:ext cx="10332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346704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съедают margin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3703320" y="3337560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по uplift / margin / reward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31520" y="3813048"/>
            <a:ext cx="1033272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968496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Токсичная лига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3703320" y="3959352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анонимные группы, без абсолютных трат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31520" y="4434840"/>
            <a:ext cx="10332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590288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fraud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3703320" y="4581144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qualifying purchases + antifraud score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31520" y="5440680"/>
            <a:ext cx="10332720" cy="438912"/>
          </a:xfrm>
          <a:prstGeom prst="rect">
            <a:avLst/>
          </a:prstGeom>
          <a:solidFill>
            <a:srgbClr val="EAF7ED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577840"/>
            <a:ext cx="9601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RAT: игровой progress должен влиять на покупки, а не только на открытие экрана.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137392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686032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46920" y="1828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0" b="1" dirty="0">
                <a:solidFill>
                  <a:srgbClr val="E4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работ до финальной защиты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закрыть, чтобы перейти от рабочей версии к доказательному demo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452628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737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Business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2286000"/>
            <a:ext cx="228600" cy="256032"/>
          </a:xfrm>
          <a:prstGeom prst="roundRect">
            <a:avLst>
              <a:gd name="adj" fmla="val 20000"/>
            </a:avLst>
          </a:prstGeom>
          <a:solidFill>
            <a:srgbClr val="20923A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336292"/>
            <a:ext cx="82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463040" y="230428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финмодель challenge + referral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1097280" y="2971800"/>
            <a:ext cx="228600" cy="256032"/>
          </a:xfrm>
          <a:prstGeom prst="roundRect">
            <a:avLst>
              <a:gd name="adj" fmla="val 20000"/>
            </a:avLst>
          </a:prstGeom>
          <a:solidFill>
            <a:srgbClr val="20923A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22092"/>
            <a:ext cx="82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463040" y="299008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и assumptions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1097280" y="3657600"/>
            <a:ext cx="228600" cy="256032"/>
          </a:xfrm>
          <a:prstGeom prst="roundRect">
            <a:avLst>
              <a:gd name="adj" fmla="val 20000"/>
            </a:avLst>
          </a:prstGeom>
          <a:solidFill>
            <a:srgbClr val="20923A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707892"/>
            <a:ext cx="82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463040" y="367588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plan + guardrails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1097280" y="4343400"/>
            <a:ext cx="228600" cy="256032"/>
          </a:xfrm>
          <a:prstGeom prst="roundRect">
            <a:avLst>
              <a:gd name="adj" fmla="val 20000"/>
            </a:avLst>
          </a:prstGeom>
          <a:solidFill>
            <a:srgbClr val="20923A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4393692"/>
            <a:ext cx="82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463040" y="436168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финальная презентация и demo narrative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6355080" y="1417320"/>
            <a:ext cx="452628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7688" y="1737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/ AI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675120" y="2286000"/>
            <a:ext cx="228600" cy="256032"/>
          </a:xfrm>
          <a:prstGeom prst="roundRect">
            <a:avLst>
              <a:gd name="adj" fmla="val 20000"/>
            </a:avLst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2336292"/>
            <a:ext cx="82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7040880" y="230428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users + fraud patterns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6675120" y="2971800"/>
            <a:ext cx="228600" cy="256032"/>
          </a:xfrm>
          <a:prstGeom prst="roundRect">
            <a:avLst>
              <a:gd name="adj" fmla="val 20000"/>
            </a:avLst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3022092"/>
            <a:ext cx="82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7040880" y="299008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copy / fallback</a:t>
            </a:r>
            <a:endParaRPr lang="en-US" sz="1140" dirty="0"/>
          </a:p>
        </p:txBody>
      </p:sp>
      <p:sp>
        <p:nvSpPr>
          <p:cNvPr id="27" name="Shape 25"/>
          <p:cNvSpPr/>
          <p:nvPr/>
        </p:nvSpPr>
        <p:spPr>
          <a:xfrm>
            <a:off x="6675120" y="3657600"/>
            <a:ext cx="228600" cy="256032"/>
          </a:xfrm>
          <a:prstGeom prst="roundRect">
            <a:avLst>
              <a:gd name="adj" fmla="val 20000"/>
            </a:avLst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3707892"/>
            <a:ext cx="82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7040880" y="367588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relevance + simulation</a:t>
            </a:r>
            <a:endParaRPr lang="en-US" sz="1140" dirty="0"/>
          </a:p>
        </p:txBody>
      </p:sp>
      <p:sp>
        <p:nvSpPr>
          <p:cNvPr id="30" name="Shape 28"/>
          <p:cNvSpPr/>
          <p:nvPr/>
        </p:nvSpPr>
        <p:spPr>
          <a:xfrm>
            <a:off x="6675120" y="4343400"/>
            <a:ext cx="228600" cy="256032"/>
          </a:xfrm>
          <a:prstGeom prst="roundRect">
            <a:avLst>
              <a:gd name="adj" fmla="val 20000"/>
            </a:avLst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4393692"/>
            <a:ext cx="82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7040880" y="436168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view + deploy / make demo</a:t>
            </a:r>
            <a:endParaRPr lang="en-US" sz="114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137392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686032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46920" y="1828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0" b="1" dirty="0">
                <a:solidFill>
                  <a:srgbClr val="E4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и зоны ответственности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 зафиксированы через owner-prefix в backlog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520440" cy="43891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737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Анна Казанцева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41832" y="21488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209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2199132"/>
            <a:ext cx="813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anna-kaz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941832" y="26974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41832" y="32461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41832" y="3474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JTBD, UX, scope, research, economics, metrics, pilot, docs, pitch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941832" y="42519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Текущий фокус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41832" y="4480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финмодель, финальные доки, презентация, demo narrative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4480560" y="1417320"/>
            <a:ext cx="3520440" cy="43891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737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Роман Якимов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36592" y="21488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2199132"/>
            <a:ext cx="813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Littump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4736592" y="26974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/ Frontend / Infra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6592" y="32461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36592" y="3474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core, frontend, API contract, migrations, CI, deploy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4736592" y="42519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Текущий фокус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36592" y="4480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view, achievements, antifraud pipeline, deploy/demo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8275320" y="1417320"/>
            <a:ext cx="3520440" cy="43891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160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31352" y="1737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Татьяна Тельнова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31352" y="21488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160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04504" y="2199132"/>
            <a:ext cx="813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6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tatiana-stlv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8531352" y="26974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531352" y="32461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31352" y="3474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data, fraud patterns, LLM copy, eval, simulation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8531352" y="42519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Текущий фокус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31352" y="4480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dataset, LLM fallback, relevance eval, simulation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137392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686032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46920" y="1828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0" b="1" dirty="0">
                <a:solidFill>
                  <a:srgbClr val="E4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и артефакты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Коротко: на чём основана промежуточная версия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17320" y="132588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Materials: problem, research, economics, pilot assumptions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914400" y="176479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17320" y="176479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Description: scope, team, plan to final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14400" y="220370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22037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dev/docs/backlog/README.md: current implementation status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914400" y="26426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264261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dev/docs/architecture.md + domain-rules.md + data-model.md: technical structure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14400" y="3081528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17320" y="308152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X5 MediaHub: игровые проекты X5 / «Ам Ням»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914400" y="35204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352044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Retail: игры «Магнита» и frequency benchmark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914400" y="39593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17320" y="39593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Eagle Eye: Tesco Clubcard Challenges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914400" y="43982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7320" y="439826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Sostav: «Пандагочи» Самоката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914400" y="483717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483717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Kivetz et al., 2006; Nunes &amp; Drèze, 2006: progress mechanics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868680" y="5623560"/>
            <a:ext cx="9875520" cy="438912"/>
          </a:xfrm>
          <a:prstGeom prst="rect">
            <a:avLst/>
          </a:prstGeom>
          <a:solidFill>
            <a:srgbClr val="F1F3F5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5769864"/>
            <a:ext cx="9052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внешние numbers в презентации используются как ориентиры / assumptions, а не как прогноз эффекта X5.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137392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686032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1502</Words>
  <Application>Microsoft Office PowerPoint</Application>
  <PresentationFormat>Широкоэкранный</PresentationFormat>
  <Paragraphs>327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AI Talent Hub / ITMO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X5 Домовой — промежуточная версия</dc:title>
  <dc:subject>X5 Domovoy intermediate project presentation</dc:subject>
  <dc:creator>Anna Kazantseva</dc:creator>
  <cp:lastModifiedBy>Анна Казанцева</cp:lastModifiedBy>
  <cp:revision>2</cp:revision>
  <dcterms:created xsi:type="dcterms:W3CDTF">2026-09-03T13:31:23Z</dcterms:created>
  <dcterms:modified xsi:type="dcterms:W3CDTF">2026-09-03T13:44:01Z</dcterms:modified>
</cp:coreProperties>
</file>